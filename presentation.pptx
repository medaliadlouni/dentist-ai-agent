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286A5-FBC3-5B4D-B931-E6A78892A50D}" type="datetimeFigureOut">
              <a:rPr lang="en-FR" smtClean="0"/>
              <a:t>19/03/2026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8E140-3B4C-B848-B0A3-5D9021A1F6AE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062702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8E140-3B4C-B848-B0A3-5D9021A1F6AE}" type="slidenum">
              <a:rPr lang="en-FR" smtClean="0"/>
              <a:t>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24143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54864" cy="3200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2C39A"/>
                </a:solidFill>
                <a:latin typeface="Georgia"/>
              </a:defRPr>
            </a:pPr>
            <a:r>
              <a:t>receptai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Agent IA pour Cabinet Dentaire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0CBC4"/>
                </a:solidFill>
                <a:latin typeface="Calibri"/>
              </a:defRPr>
            </a:pPr>
            <a:r>
              <a:t>Gestion intelligente des appels telephoniques par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7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6263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2C39A"/>
                </a:solidFill>
                <a:latin typeface="Calibri"/>
              </a:defRPr>
            </a:pPr>
            <a:r>
              <a:t>Clinique Dentaire Saint-Michel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E36"/>
                </a:solidFill>
                <a:latin typeface="Georgia"/>
              </a:defRPr>
            </a:pPr>
            <a:r>
              <a:t>Problematique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2004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090"/>
                </a:solidFill>
                <a:latin typeface="Georgia"/>
              </a:defRPr>
            </a:pPr>
            <a:r>
              <a:t>Volume d'appels eleve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Rendez-vous, urgences, mutuelles, questions generales — le secretariat gere des dizaines d'appels par jour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4592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1645920"/>
            <a:ext cx="32004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874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090"/>
                </a:solidFill>
                <a:latin typeface="Georgia"/>
              </a:defRPr>
            </a:pPr>
            <a:r>
              <a:t>Secretariat surcharge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8600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Temps d'attente longs, appels manques, indisponibilite aux heures de pointe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64592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1645920"/>
            <a:ext cx="32004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1874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090"/>
                </a:solidFill>
                <a:latin typeface="Georgia"/>
              </a:defRPr>
            </a:pPr>
            <a:r>
              <a:t>Frustration patient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28600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Difficulte a joindre le cabinet, repetition des informations, manque de reactivite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10515600" cy="2011680"/>
          </a:xfrm>
          <a:prstGeom prst="roundRect">
            <a:avLst>
              <a:gd name="adj" fmla="val 3000"/>
            </a:avLst>
          </a:prstGeom>
          <a:solidFill>
            <a:srgbClr val="E0F7FA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2E36"/>
                </a:solidFill>
                <a:latin typeface="Georgia"/>
              </a:defRPr>
            </a:pPr>
            <a:r>
              <a:t>Objectif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Automatiser la gestion des appels telephoniques avec un agent IA conversationnel capable de gerer rendez-vous, urgences, mutuelles et transferts humains — en temps reel et avec empathie.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33" y="0"/>
            <a:ext cx="12191695" cy="6858000"/>
          </a:xfrm>
          <a:prstGeom prst="rect">
            <a:avLst/>
          </a:prstGeom>
          <a:solidFill>
            <a:srgbClr val="F0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E36"/>
                </a:solidFill>
                <a:latin typeface="Georgia"/>
              </a:defRPr>
            </a:pPr>
            <a:r>
              <a:t>Architecture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090"/>
                </a:solidFill>
                <a:latin typeface="Georgia"/>
              </a:defRPr>
            </a:pPr>
            <a:r>
              <a:t>Stack technologique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A1A2E"/>
                </a:solidFill>
                <a:latin typeface="Calibri"/>
              </a:rPr>
              <a:t>Google GenAI SDK 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— Gemini 2.5 Flash (t=0.3)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A1A2E"/>
                </a:solidFill>
                <a:latin typeface="Calibri"/>
              </a:rPr>
              <a:t>Function calling </a:t>
            </a:r>
            <a:r>
              <a:rPr sz="1500" b="1" dirty="0" err="1">
                <a:solidFill>
                  <a:srgbClr val="1A1A2E"/>
                </a:solidFill>
                <a:latin typeface="Calibri"/>
              </a:rPr>
              <a:t>natif</a:t>
            </a:r>
            <a:r>
              <a:rPr sz="1500" b="1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— 6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outils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declares</a:t>
            </a: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A1A2E"/>
                </a:solidFill>
                <a:latin typeface="Calibri"/>
              </a:rPr>
              <a:t>Python 3.12 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—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gestionnaire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paquets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uv</a:t>
            </a:r>
            <a:endParaRPr sz="1500" b="0" dirty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 b="1" dirty="0">
                <a:solidFill>
                  <a:srgbClr val="1A1A2E"/>
                </a:solidFill>
                <a:latin typeface="Calibri"/>
              </a:rPr>
              <a:t>Etat mutable partage 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— </a:t>
            </a:r>
            <a:r>
              <a:rPr sz="1500" b="0" dirty="0" err="1">
                <a:solidFill>
                  <a:srgbClr val="1A1A2E"/>
                </a:solidFill>
                <a:latin typeface="Calibri"/>
              </a:rPr>
              <a:t>simule</a:t>
            </a:r>
            <a:r>
              <a:rPr sz="1500" b="0" dirty="0">
                <a:solidFill>
                  <a:srgbClr val="1A1A2E"/>
                </a:solidFill>
                <a:latin typeface="Calibri"/>
              </a:rPr>
              <a:t> le SI du cabinet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090"/>
                </a:solidFill>
                <a:latin typeface="Georgia"/>
              </a:defRPr>
            </a:pPr>
            <a:r>
              <a:t>6 outils (function calling)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E36"/>
                </a:solidFill>
                <a:latin typeface="Consolas"/>
              </a:defRPr>
            </a:pPr>
            <a:r>
              <a:t>search_slots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Recherche de creneaux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01168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98280" y="2103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E36"/>
                </a:solidFill>
                <a:latin typeface="Consolas"/>
              </a:defRPr>
            </a:pPr>
            <a:r>
              <a:t>book_appointment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423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Reservation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01752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E36"/>
                </a:solidFill>
                <a:latin typeface="Consolas"/>
              </a:defRPr>
            </a:pPr>
            <a:r>
              <a:t>cancel_appointment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Annulation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301752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3108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E36"/>
                </a:solidFill>
                <a:latin typeface="Consolas"/>
              </a:defRPr>
            </a:pPr>
            <a:r>
              <a:t>check_mutuelle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Verification mutuelle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02336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4114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E36"/>
                </a:solidFill>
                <a:latin typeface="Consolas"/>
              </a:defRPr>
            </a:pPr>
            <a:r>
              <a:t>trigger_human_transfer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Transfert humain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402336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98280" y="4114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E36"/>
                </a:solidFill>
                <a:latin typeface="Consolas"/>
              </a:defRPr>
            </a:pPr>
            <a:r>
              <a:t>get_call_summary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Resume d'appel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12080"/>
            <a:ext cx="10515600" cy="1097280"/>
          </a:xfrm>
          <a:prstGeom prst="roundRect">
            <a:avLst/>
          </a:prstGeom>
          <a:solidFill>
            <a:srgbClr val="0A2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C39A"/>
                </a:solidFill>
                <a:latin typeface="Consolas"/>
              </a:defRPr>
            </a:pPr>
            <a:r>
              <a:t>slots.json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669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t>Creneaux disponibles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C39A"/>
                </a:solidFill>
                <a:latin typeface="Consolas"/>
              </a:defRPr>
            </a:pPr>
            <a:r>
              <a:t>mutuelles.json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669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t>Partenaires assurance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C39A"/>
                </a:solidFill>
                <a:latin typeface="Consolas"/>
              </a:defRPr>
            </a:pPr>
            <a:r>
              <a:t>dialogues.csv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669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t>15 dialogues, 97 tours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E36"/>
                </a:solidFill>
                <a:latin typeface="Georgia"/>
              </a:defRPr>
            </a:pPr>
            <a:r>
              <a:t>Pipeline d'evaluation en 4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6032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45920" y="17830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2E36"/>
                </a:solidFill>
                <a:latin typeface="Georgia"/>
              </a:defRPr>
            </a:pPr>
            <a:r>
              <a:t>Rejeu teacher-forcing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Genere les reponses de l'agent tour par tour. Reinjecte la reference dans le contexte pour isoler l'evaluation.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5303519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321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28090"/>
                </a:solidFill>
                <a:latin typeface="Consolas"/>
              </a:defRPr>
            </a:pPr>
            <a:r>
              <a:t>dialogue_runner.py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554480"/>
            <a:ext cx="256032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34840" y="17830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2E36"/>
                </a:solidFill>
                <a:latin typeface="Georgia"/>
              </a:defRPr>
            </a:pPr>
            <a:r>
              <a:t>Evaluation deterministe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10896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Mapping outils vers regles (TOOL_TO_RULES). Reproductible, sans cout additionnel. Poids : 40%.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5303519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94760" y="5321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28090"/>
                </a:solidFill>
                <a:latin typeface="Consolas"/>
              </a:defRPr>
            </a:pPr>
            <a:r>
              <a:t>deterministic.py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554480"/>
            <a:ext cx="256032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223760" y="17830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2E36"/>
                </a:solidFill>
                <a:latin typeface="Georgia"/>
              </a:defRPr>
            </a:pPr>
            <a:r>
              <a:t>LLM-as-judge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Gemini 2.5 Pro (t=0.1). 5 criteres notes 0-5 : ton, completude, exactitude, regles metier, concision. Poids : 60%.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5303519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321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28090"/>
                </a:solidFill>
                <a:latin typeface="Consolas"/>
              </a:defRPr>
            </a:pPr>
            <a:r>
              <a:t>llm_judge.py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A8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554480"/>
            <a:ext cx="256032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012680" y="17830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1268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2E36"/>
                </a:solidFill>
                <a:latin typeface="Georgia"/>
              </a:defRPr>
            </a:pPr>
            <a:r>
              <a:t>Metriques finales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10896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Conformite globale, matrice de confusion par regle, precision/recall/F1 par regle.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5303519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72600" y="5321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28090"/>
                </a:solidFill>
                <a:latin typeface="Consolas"/>
              </a:defRPr>
            </a:pPr>
            <a:r>
              <a:t>metrics.py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E36"/>
                </a:solidFill>
                <a:latin typeface="Georgia"/>
              </a:defRPr>
            </a:pPr>
            <a:r>
              <a:t>Regles metier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73152" cy="8686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E3E"/>
                </a:solidFill>
                <a:latin typeface="Georgia"/>
              </a:defRPr>
            </a:pPr>
            <a:r>
              <a:t>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E36"/>
                </a:solidFill>
                <a:latin typeface="Georgia"/>
              </a:defRPr>
            </a:pPr>
            <a:r>
              <a:t>Transfert humain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196596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28090"/>
                </a:solidFill>
                <a:latin typeface="Calibri"/>
              </a:defRPr>
            </a:pPr>
            <a:r>
              <a:t>PRIORITE 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60020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Resumption + transfert immediat vers le secretariat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6888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468880"/>
            <a:ext cx="73152" cy="8686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606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Georgia"/>
              </a:defRPr>
            </a:pPr>
            <a:r>
              <a:t>R1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E36"/>
                </a:solidFill>
                <a:latin typeface="Georgia"/>
              </a:defRPr>
            </a:pPr>
            <a:r>
              <a:t>Douleur / Urgence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60" y="297180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3736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28090"/>
                </a:solidFill>
                <a:latin typeface="Calibri"/>
              </a:defRPr>
            </a:pPr>
            <a:r>
              <a:t>Echelle 1-10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60604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Seuil &gt;= 7 : creneaux urgence (J/J+1). &lt; 7 : rendez-vous standard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73152" cy="868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3611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090"/>
                </a:solidFill>
                <a:latin typeface="Georgia"/>
              </a:defRPr>
            </a:pPr>
            <a:r>
              <a:t>R4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E36"/>
                </a:solidFill>
                <a:latin typeface="Georgia"/>
              </a:defRPr>
            </a:pPr>
            <a:r>
              <a:t>Rendez-vous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37360" y="397764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37360" y="3977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28090"/>
                </a:solidFill>
                <a:latin typeface="Calibri"/>
              </a:defRPr>
            </a:pPr>
            <a:r>
              <a:t>Reservation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61188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Identification praticien, 2 creneaux proposes, confirmation avant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8056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4480560"/>
            <a:ext cx="73152" cy="8686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4617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896"/>
                </a:solidFill>
                <a:latin typeface="Georgia"/>
              </a:defRPr>
            </a:pPr>
            <a:r>
              <a:t>R3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38369" y="444175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E36"/>
                </a:solidFill>
                <a:latin typeface="Georgia"/>
              </a:defRPr>
            </a:pPr>
            <a:r>
              <a:rPr dirty="0"/>
              <a:t>Assurance / Mutuelle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7360" y="498348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91640" y="4983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28090"/>
                </a:solidFill>
                <a:latin typeface="Calibri"/>
              </a:defRPr>
            </a:pPr>
            <a:r>
              <a:t>Tiers payant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61772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Verification partenaire. Si oui : tiers payant + contrat. Si non : paiement + feuille de soins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48640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31520" y="5486400"/>
            <a:ext cx="73152" cy="86868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1560" y="56235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7B8D"/>
                </a:solidFill>
                <a:latin typeface="Georgia"/>
              </a:defRPr>
            </a:pPr>
            <a:r>
              <a:t>R5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0556" y="5614303"/>
            <a:ext cx="2556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2E36"/>
                </a:solidFill>
                <a:latin typeface="Georgia"/>
              </a:defRPr>
            </a:pPr>
            <a:r>
              <a:rPr dirty="0"/>
              <a:t>Questions g</a:t>
            </a:r>
            <a:r>
              <a:rPr lang="fr-FR" dirty="0" err="1"/>
              <a:t>é</a:t>
            </a:r>
            <a:r>
              <a:rPr dirty="0"/>
              <a:t>n</a:t>
            </a:r>
            <a:r>
              <a:rPr lang="fr-FR" dirty="0" err="1"/>
              <a:t>é</a:t>
            </a:r>
            <a:r>
              <a:rPr dirty="0"/>
              <a:t>rales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37360" y="598932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37360" y="5989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28090"/>
                </a:solidFill>
                <a:latin typeface="Calibri"/>
              </a:defRPr>
            </a:pPr>
            <a:r>
              <a:t>Info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7332" y="562356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rPr dirty="0" err="1"/>
              <a:t>Reponse</a:t>
            </a:r>
            <a:r>
              <a:rPr dirty="0"/>
              <a:t> breve et </a:t>
            </a:r>
            <a:r>
              <a:rPr dirty="0" err="1"/>
              <a:t>competente</a:t>
            </a:r>
            <a:r>
              <a:rPr dirty="0"/>
              <a:t>, orientation vers </a:t>
            </a:r>
            <a:r>
              <a:rPr dirty="0" err="1"/>
              <a:t>rendez</a:t>
            </a:r>
            <a:r>
              <a:rPr dirty="0"/>
              <a:t>-vous </a:t>
            </a:r>
            <a:r>
              <a:rPr dirty="0" err="1"/>
              <a:t>si</a:t>
            </a:r>
            <a:r>
              <a:rPr dirty="0"/>
              <a:t> pertinent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75536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8D"/>
                </a:solidFill>
                <a:latin typeface="Calibri"/>
              </a:defRPr>
            </a:pPr>
            <a:r>
              <a:rPr dirty="0" err="1"/>
              <a:t>Praticiens</a:t>
            </a:r>
            <a:r>
              <a:rPr dirty="0"/>
              <a:t> :  Dr. Martin (</a:t>
            </a:r>
            <a:r>
              <a:rPr dirty="0" err="1"/>
              <a:t>soins</a:t>
            </a:r>
            <a:r>
              <a:rPr dirty="0"/>
              <a:t> </a:t>
            </a:r>
            <a:r>
              <a:rPr dirty="0" err="1"/>
              <a:t>generaux</a:t>
            </a:r>
            <a:r>
              <a:rPr dirty="0"/>
              <a:t>)  |  Dr. Dupont (</a:t>
            </a:r>
            <a:r>
              <a:rPr dirty="0" err="1"/>
              <a:t>orthodontie</a:t>
            </a:r>
            <a:r>
              <a:rPr dirty="0"/>
              <a:t>)  |  Dr. Lefevre (</a:t>
            </a:r>
            <a:r>
              <a:rPr dirty="0" err="1"/>
              <a:t>implantologie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E36"/>
                </a:solidFill>
                <a:latin typeface="Georgia"/>
              </a:defRPr>
            </a:pPr>
            <a:r>
              <a:t>Strategie de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  <a:latin typeface="Calibri"/>
              </a:defRPr>
            </a:pPr>
            <a:r>
              <a:t>System prompt de 106 lignes — 4 principes directeurs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05740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848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574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2E36"/>
                </a:solidFill>
                <a:latin typeface="Georgia"/>
              </a:defRPr>
            </a:pPr>
            <a:r>
              <a:t>Hierarchie de regles explicite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560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5 regles metier (R1-R5) ordonnees par priorite. R2 (transfert humain) prioritaire sur tout.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37960" y="205740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0848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0574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2E36"/>
                </a:solidFill>
                <a:latin typeface="Georgia"/>
              </a:defRPr>
            </a:pPr>
            <a:r>
              <a:t>Injection de contexte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560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Date de reference, horaires d'ouverture, mapping praticien/specialite integres dans le prompt.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" y="416052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1879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160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2E36"/>
                </a:solidFill>
                <a:latin typeface="Georgia"/>
              </a:defRPr>
            </a:pPr>
            <a:r>
              <a:t>Gestion de la douleur par seuil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663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Echelle 1-10 systematique. Seuil a 7 : urgency=True dans search_slots pour creneaux J/J+1.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9319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37960" y="416052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41879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160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2E36"/>
                </a:solidFill>
                <a:latin typeface="Georgia"/>
              </a:defRPr>
            </a:pPr>
            <a:r>
              <a:t>Few-shot multi-regles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663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5 dialogues complets couvrant les combinaisons complexes : R1+R3+R4, R5+R1+R3+R4, R1+R4, R4+R2, R3+R4.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6035040"/>
            <a:ext cx="10789920" cy="45720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60807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28090"/>
                </a:solidFill>
                <a:latin typeface="Calibri"/>
              </a:defRPr>
            </a:pPr>
            <a:r>
              <a:t>Exemples few-shot selectionnes depuis le jeu de dev : D12 (R1+R3+R4), D15 (R5+R1+R3+R4), D9 (R1+R4), D14 (R4+R2), D2 (R3+R4)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4328"/>
            <a:ext cx="12191695" cy="6858000"/>
          </a:xfrm>
          <a:prstGeom prst="rect">
            <a:avLst/>
          </a:prstGeom>
          <a:solidFill>
            <a:srgbClr val="F0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E36"/>
                </a:solidFill>
                <a:latin typeface="Georgia"/>
              </a:defRPr>
            </a:pPr>
            <a:r>
              <a:t>Mise en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7472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8090"/>
                </a:solidFill>
                <a:latin typeface="Georgia"/>
              </a:defRPr>
            </a:pPr>
            <a:r>
              <a:t>Deploiement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Docker </a:t>
            </a:r>
            <a:r>
              <a:rPr sz="1300" b="0">
                <a:solidFill>
                  <a:srgbClr val="1A1A2E"/>
                </a:solidFill>
                <a:latin typeface="Calibri"/>
              </a:rPr>
              <a:t>— Python 3.12 + uv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Cloud Run </a:t>
            </a:r>
            <a:r>
              <a:rPr sz="1300" b="0">
                <a:solidFill>
                  <a:srgbClr val="1A1A2E"/>
                </a:solidFill>
                <a:latin typeface="Calibri"/>
              </a:rPr>
              <a:t>— serverless, autoscaling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Vertex AI Agent Engine </a:t>
            </a:r>
            <a:r>
              <a:rPr sz="1300" b="0">
                <a:solidFill>
                  <a:srgbClr val="1A1A2E"/>
                </a:solidFill>
                <a:latin typeface="Calibri"/>
              </a:rPr>
              <a:t>— hosting manage, integration native GenAI SDK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34747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1554480"/>
            <a:ext cx="347472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59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896"/>
                </a:solidFill>
                <a:latin typeface="Georgia"/>
              </a:defRPr>
            </a:pPr>
            <a:r>
              <a:t>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286000"/>
            <a:ext cx="3017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dirty="0" err="1">
                <a:solidFill>
                  <a:srgbClr val="1A1A2E"/>
                </a:solidFill>
                <a:latin typeface="Calibri"/>
              </a:rPr>
              <a:t>Latence</a:t>
            </a:r>
            <a:r>
              <a:rPr sz="1300" b="1" dirty="0">
                <a:solidFill>
                  <a:srgbClr val="1A1A2E"/>
                </a:solidFill>
                <a:latin typeface="Calibri"/>
              </a:rPr>
              <a:t> </a:t>
            </a:r>
            <a:r>
              <a:rPr lang="fr-FR" sz="1300" b="1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&lt; 2s (temps reel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telephonique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)</a:t>
            </a:r>
          </a:p>
          <a:p>
            <a:pPr>
              <a:spcAft>
                <a:spcPts val="10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Cout par </a:t>
            </a:r>
            <a:r>
              <a:rPr sz="1300" b="1" dirty="0" err="1">
                <a:solidFill>
                  <a:srgbClr val="1A1A2E"/>
                </a:solidFill>
                <a:latin typeface="Calibri"/>
              </a:rPr>
              <a:t>appel</a:t>
            </a:r>
            <a:r>
              <a:rPr sz="1300" b="1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1A1A2E"/>
                </a:solidFill>
                <a:latin typeface="Calibri"/>
              </a:rPr>
              <a:t>en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 tokens Gemini (E/S)</a:t>
            </a:r>
          </a:p>
          <a:p>
            <a:pPr>
              <a:spcAft>
                <a:spcPts val="1000"/>
              </a:spcAft>
            </a:pPr>
            <a:r>
              <a:rPr sz="1300" b="1" dirty="0" err="1">
                <a:solidFill>
                  <a:srgbClr val="1A1A2E"/>
                </a:solidFill>
                <a:latin typeface="Calibri"/>
              </a:rPr>
              <a:t>Taux</a:t>
            </a:r>
            <a:r>
              <a:rPr sz="1300" b="1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300" b="1" dirty="0" err="1">
                <a:solidFill>
                  <a:srgbClr val="1A1A2E"/>
                </a:solidFill>
                <a:latin typeface="Calibri"/>
              </a:rPr>
              <a:t>transfert</a:t>
            </a:r>
            <a:r>
              <a:rPr sz="1300" b="1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proxy de frustration patient</a:t>
            </a:r>
          </a:p>
          <a:p>
            <a:pPr>
              <a:spcAft>
                <a:spcPts val="1000"/>
              </a:spcAft>
            </a:pPr>
            <a:r>
              <a:rPr sz="1300" b="1" dirty="0">
                <a:solidFill>
                  <a:srgbClr val="1A1A2E"/>
                </a:solidFill>
                <a:latin typeface="Calibri"/>
              </a:rPr>
              <a:t>post-</a:t>
            </a:r>
            <a:r>
              <a:rPr sz="1300" b="1" dirty="0" err="1">
                <a:solidFill>
                  <a:srgbClr val="1A1A2E"/>
                </a:solidFill>
                <a:latin typeface="Calibri"/>
              </a:rPr>
              <a:t>appel</a:t>
            </a:r>
            <a:r>
              <a:rPr sz="1300" b="1" dirty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dirty="0">
                <a:solidFill>
                  <a:srgbClr val="1A1A2E"/>
                </a:solidFill>
                <a:latin typeface="Calibri"/>
              </a:rPr>
              <a:t>satisfaction patient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8" y="1554480"/>
            <a:ext cx="34747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598" y="1554480"/>
            <a:ext cx="347472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198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C39A"/>
                </a:solidFill>
                <a:latin typeface="Georgia"/>
              </a:defRPr>
            </a:pPr>
            <a:r>
              <a:t>Resilience &amp; Evolution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198" y="22860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Fallback </a:t>
            </a:r>
            <a:r>
              <a:rPr sz="1300" b="0">
                <a:solidFill>
                  <a:srgbClr val="1A1A2E"/>
                </a:solidFill>
                <a:latin typeface="Calibri"/>
              </a:rPr>
              <a:t>— transfert humain apres 3 echecs d'outil ou timeout &gt; 5s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Donnees live </a:t>
            </a:r>
            <a:r>
              <a:rPr sz="1300" b="0">
                <a:solidFill>
                  <a:srgbClr val="1A1A2E"/>
                </a:solidFill>
                <a:latin typeface="Calibri"/>
              </a:rPr>
              <a:t>— remplacer JSON statiques par API metier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Conclusion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2C39A"/>
                </a:solidFill>
                <a:latin typeface="Georgia"/>
              </a:defRPr>
            </a:pPr>
            <a: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dirty="0">
                <a:solidFill>
                  <a:srgbClr val="CCDDDD"/>
                </a:solidFill>
                <a:latin typeface="Calibri"/>
              </a:rPr>
              <a:t>  Agent </a:t>
            </a:r>
            <a:r>
              <a:rPr sz="1500" dirty="0" err="1">
                <a:solidFill>
                  <a:srgbClr val="CCDDDD"/>
                </a:solidFill>
                <a:latin typeface="Calibri"/>
              </a:rPr>
              <a:t>fonctionnel</a:t>
            </a:r>
            <a:r>
              <a:rPr sz="1500" dirty="0">
                <a:solidFill>
                  <a:srgbClr val="CCDDDD"/>
                </a:solidFill>
                <a:latin typeface="Calibri"/>
              </a:rPr>
              <a:t> avec </a:t>
            </a:r>
            <a:r>
              <a:rPr lang="fr-FR" sz="1500" dirty="0">
                <a:solidFill>
                  <a:srgbClr val="CCDDDD"/>
                </a:solidFill>
                <a:latin typeface="Calibri"/>
              </a:rPr>
              <a:t>7</a:t>
            </a:r>
            <a:r>
              <a:rPr sz="1500" dirty="0">
                <a:solidFill>
                  <a:srgbClr val="CCDDDD"/>
                </a:solidFill>
                <a:latin typeface="Calibri"/>
              </a:rPr>
              <a:t>5% de </a:t>
            </a:r>
            <a:r>
              <a:rPr sz="1500" dirty="0" err="1">
                <a:solidFill>
                  <a:srgbClr val="CCDDDD"/>
                </a:solidFill>
                <a:latin typeface="Calibri"/>
              </a:rPr>
              <a:t>conformite</a:t>
            </a:r>
            <a:r>
              <a:rPr sz="1500" dirty="0">
                <a:solidFill>
                  <a:srgbClr val="CCDDDD"/>
                </a:solidFill>
                <a:latin typeface="Calibri"/>
              </a:rPr>
              <a:t> sur 5 </a:t>
            </a:r>
            <a:r>
              <a:rPr sz="1500" dirty="0" err="1">
                <a:solidFill>
                  <a:srgbClr val="CCDDDD"/>
                </a:solidFill>
                <a:latin typeface="Calibri"/>
              </a:rPr>
              <a:t>regles</a:t>
            </a:r>
            <a:r>
              <a:rPr sz="1500" dirty="0">
                <a:solidFill>
                  <a:srgbClr val="CCDDDD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CCDDDD"/>
                </a:solidFill>
                <a:latin typeface="Calibri"/>
              </a:rPr>
              <a:t>metier</a:t>
            </a:r>
            <a:r>
              <a:rPr lang="fr-FR" sz="1500" dirty="0">
                <a:solidFill>
                  <a:srgbClr val="CCDDDD"/>
                </a:solidFill>
                <a:latin typeface="Calibri"/>
              </a:rPr>
              <a:t> </a:t>
            </a:r>
            <a:endParaRPr sz="1500" dirty="0">
              <a:solidFill>
                <a:srgbClr val="CCDDDD"/>
              </a:solidFill>
              <a:latin typeface="Calibri"/>
            </a:endParaRPr>
          </a:p>
          <a:p>
            <a:pPr>
              <a:spcAft>
                <a:spcPts val="1400"/>
              </a:spcAft>
            </a:pPr>
            <a:r>
              <a:rPr sz="1500" dirty="0">
                <a:solidFill>
                  <a:srgbClr val="CCDDDD"/>
                </a:solidFill>
                <a:latin typeface="Calibri"/>
              </a:rPr>
              <a:t>  Architecture </a:t>
            </a:r>
            <a:r>
              <a:rPr sz="1500" dirty="0" err="1">
                <a:solidFill>
                  <a:srgbClr val="CCDDDD"/>
                </a:solidFill>
                <a:latin typeface="Calibri"/>
              </a:rPr>
              <a:t>modulaire</a:t>
            </a:r>
            <a:r>
              <a:rPr sz="1500" dirty="0">
                <a:solidFill>
                  <a:srgbClr val="CCDDDD"/>
                </a:solidFill>
                <a:latin typeface="Calibri"/>
              </a:rPr>
              <a:t> et evaluable (double evaluation)</a:t>
            </a:r>
          </a:p>
          <a:p>
            <a:pPr>
              <a:spcAft>
                <a:spcPts val="1400"/>
              </a:spcAft>
            </a:pPr>
            <a:r>
              <a:rPr sz="1500" dirty="0">
                <a:solidFill>
                  <a:srgbClr val="CCDDDD"/>
                </a:solidFill>
                <a:latin typeface="Calibri"/>
              </a:rPr>
              <a:t>  6 </a:t>
            </a:r>
            <a:r>
              <a:rPr sz="1500" dirty="0" err="1">
                <a:solidFill>
                  <a:srgbClr val="CCDDDD"/>
                </a:solidFill>
                <a:latin typeface="Calibri"/>
              </a:rPr>
              <a:t>outils</a:t>
            </a:r>
            <a:r>
              <a:rPr sz="1500" dirty="0">
                <a:solidFill>
                  <a:srgbClr val="CCDDDD"/>
                </a:solidFill>
                <a:latin typeface="Calibri"/>
              </a:rPr>
              <a:t> avec function calling </a:t>
            </a:r>
            <a:r>
              <a:rPr sz="1500" dirty="0" err="1">
                <a:solidFill>
                  <a:srgbClr val="CCDDDD"/>
                </a:solidFill>
                <a:latin typeface="Calibri"/>
              </a:rPr>
              <a:t>natif</a:t>
            </a:r>
            <a:r>
              <a:rPr sz="1500" dirty="0">
                <a:solidFill>
                  <a:srgbClr val="CCDDDD"/>
                </a:solidFill>
                <a:latin typeface="Calibri"/>
              </a:rPr>
              <a:t> pour </a:t>
            </a:r>
            <a:r>
              <a:rPr sz="1500" dirty="0" err="1">
                <a:solidFill>
                  <a:srgbClr val="CCDDDD"/>
                </a:solidFill>
                <a:latin typeface="Calibri"/>
              </a:rPr>
              <a:t>couvrir</a:t>
            </a:r>
            <a:r>
              <a:rPr sz="1500" dirty="0">
                <a:solidFill>
                  <a:srgbClr val="CCDDDD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CCDDDD"/>
                </a:solidFill>
                <a:latin typeface="Calibri"/>
              </a:rPr>
              <a:t>tous</a:t>
            </a:r>
            <a:r>
              <a:rPr sz="1500" dirty="0">
                <a:solidFill>
                  <a:srgbClr val="CCDDDD"/>
                </a:solidFill>
                <a:latin typeface="Calibri"/>
              </a:rPr>
              <a:t> les </a:t>
            </a:r>
            <a:r>
              <a:rPr sz="1500" dirty="0" err="1">
                <a:solidFill>
                  <a:srgbClr val="CCDDDD"/>
                </a:solidFill>
                <a:latin typeface="Calibri"/>
              </a:rPr>
              <a:t>cas</a:t>
            </a:r>
            <a:r>
              <a:rPr sz="1500" dirty="0">
                <a:solidFill>
                  <a:srgbClr val="CCDDDD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CCDDDD"/>
                </a:solidFill>
                <a:latin typeface="Calibri"/>
              </a:rPr>
              <a:t>d'usage</a:t>
            </a:r>
            <a:endParaRPr sz="1500" dirty="0">
              <a:solidFill>
                <a:srgbClr val="CCDDDD"/>
              </a:solidFill>
              <a:latin typeface="Calibri"/>
            </a:endParaRPr>
          </a:p>
          <a:p>
            <a:pPr>
              <a:spcAft>
                <a:spcPts val="1400"/>
              </a:spcAft>
            </a:pPr>
            <a:r>
              <a:rPr sz="1500" dirty="0">
                <a:solidFill>
                  <a:srgbClr val="CCDDDD"/>
                </a:solidFill>
                <a:latin typeface="Calibri"/>
              </a:rPr>
              <a:t>  Pipeline </a:t>
            </a:r>
            <a:r>
              <a:rPr sz="1500" dirty="0" err="1">
                <a:solidFill>
                  <a:srgbClr val="CCDDDD"/>
                </a:solidFill>
                <a:latin typeface="Calibri"/>
              </a:rPr>
              <a:t>d'evaluation</a:t>
            </a:r>
            <a:r>
              <a:rPr sz="1500" dirty="0">
                <a:solidFill>
                  <a:srgbClr val="CCDDDD"/>
                </a:solidFill>
                <a:latin typeface="Calibri"/>
              </a:rPr>
              <a:t> reproductible (</a:t>
            </a:r>
            <a:r>
              <a:rPr sz="1500" dirty="0" err="1">
                <a:solidFill>
                  <a:srgbClr val="CCDDDD"/>
                </a:solidFill>
                <a:latin typeface="Calibri"/>
              </a:rPr>
              <a:t>deterministe</a:t>
            </a:r>
            <a:r>
              <a:rPr sz="1500" dirty="0">
                <a:solidFill>
                  <a:srgbClr val="CCDDDD"/>
                </a:solidFill>
                <a:latin typeface="Calibri"/>
              </a:rPr>
              <a:t> + LLM-judge)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2C39A"/>
                </a:solidFill>
                <a:latin typeface="Georgia"/>
              </a:defRPr>
            </a:pPr>
            <a:r>
              <a:t>Perspectives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CCDDDD"/>
                </a:solidFill>
                <a:latin typeface="Calibri"/>
              </a:rPr>
              <a:t>  Ameliorer la gestion temporelle des creneaux (preferences J+1/J+2)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CCDDDD"/>
                </a:solidFill>
                <a:latin typeface="Calibri"/>
              </a:rPr>
              <a:t>  Reduire les tours de friction (confirmation directe)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CCDDDD"/>
                </a:solidFill>
                <a:latin typeface="Calibri"/>
              </a:rPr>
              <a:t>  Enrichir le jeu d'evaluation (plus de dialogues, plus de variete)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CCDDDD"/>
                </a:solidFill>
                <a:latin typeface="Calibri"/>
              </a:rPr>
              <a:t>  Integration vocale en temps reel (TTS Gemini + Whisper STT deja implementes)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45920"/>
            <a:ext cx="27432" cy="3200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72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2C39A"/>
                </a:solidFill>
                <a:latin typeface="Georgia"/>
              </a:defRPr>
            </a:pPr>
            <a:r>
              <a:t>receptai — Agent IA pour la Clinique Dentaire Saint-Michel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55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8A8D"/>
                </a:solidFill>
                <a:latin typeface="Calibri"/>
              </a:defRPr>
            </a:pPr>
            <a:r>
              <a:t>Gemini 2.5 Flash  |  Google GenAI SDK  |  Python 3.12  |  Function Calling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f3cd2ba-39fc-428b-a333-80f7eb18b18d}" enabled="1" method="Standard" siteId="{e8b88f3d-222b-4ce5-b9d1-46b0ff9466a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816</Words>
  <Application>Microsoft Macintosh PowerPoint</Application>
  <PresentationFormat>Widescreen</PresentationFormat>
  <Paragraphs>129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 Ali EL ADLOUNI</cp:lastModifiedBy>
  <cp:revision>2</cp:revision>
  <dcterms:created xsi:type="dcterms:W3CDTF">2013-01-27T09:14:16Z</dcterms:created>
  <dcterms:modified xsi:type="dcterms:W3CDTF">2026-03-19T13:43:23Z</dcterms:modified>
  <cp:category/>
</cp:coreProperties>
</file>